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DM Sans Medium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DM Sans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hADusecx/cW10kdHZ/HExtwKs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DMSansLight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DMSansLight-italic.fntdata"/><Relationship Id="rId23" Type="http://schemas.openxmlformats.org/officeDocument/2006/relationships/font" Target="fonts/DMSans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DM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DMSansMedium-bold.fntdata"/><Relationship Id="rId14" Type="http://schemas.openxmlformats.org/officeDocument/2006/relationships/font" Target="fonts/DMSansMedium-regular.fntdata"/><Relationship Id="rId17" Type="http://schemas.openxmlformats.org/officeDocument/2006/relationships/font" Target="fonts/DMSansMedium-boldItalic.fntdata"/><Relationship Id="rId16" Type="http://schemas.openxmlformats.org/officeDocument/2006/relationships/font" Target="fonts/DMSansMedium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/>
          <p:nvPr/>
        </p:nvSpPr>
        <p:spPr>
          <a:xfrm>
            <a:off x="793790" y="283190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2025 Sales Performance Report</a:t>
            </a:r>
            <a:endParaRPr b="0" i="0" sz="4450" u="none" cap="none" strike="noStrike"/>
          </a:p>
        </p:txBody>
      </p:sp>
      <p:sp>
        <p:nvSpPr>
          <p:cNvPr id="45" name="Google Shape;45;p1"/>
          <p:cNvSpPr/>
          <p:nvPr/>
        </p:nvSpPr>
        <p:spPr>
          <a:xfrm>
            <a:off x="793790" y="434018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EMMA N. VENTURES</a:t>
            </a:r>
            <a:endParaRPr b="0" i="0" sz="220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793790" y="503467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Home of Phones and Accessories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793790" y="202668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Executive Summary</a:t>
            </a:r>
            <a:endParaRPr b="0" i="0" sz="445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793790" y="318908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20604" y="3415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Strong Revenue</a:t>
            </a:r>
            <a:endParaRPr b="0" i="0" sz="22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1020604" y="3906322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Business achieved strong total revenue with positive growth momentum across 2025.</a:t>
            </a:r>
            <a:endParaRPr b="0" i="0" sz="175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5216962" y="318908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443776" y="3415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Branch Performance</a:t>
            </a:r>
            <a:endParaRPr b="0" i="0" sz="220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5443776" y="3906322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Growth driven mainly by a few high-performing branches with revenue concentration.</a:t>
            </a:r>
            <a:endParaRPr b="0" i="0" sz="175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9640133" y="3189089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866948" y="34159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 Limitations</a:t>
            </a:r>
            <a:endParaRPr b="0" i="0" sz="22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9866948" y="3906322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Lack of transaction-level tracking and branch closures limit strategic planning.</a:t>
            </a:r>
            <a:endParaRPr b="0" i="0" sz="17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793790" y="547699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interactive dashboard provides management with real-time insights into performance, trends, and operational efficiency.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793790" y="64329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Problem Statement</a:t>
            </a:r>
            <a:endParaRPr b="0" i="0" sz="4450" u="none" cap="none" strike="noStrike"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27434"/>
            <a:ext cx="8284131" cy="462367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9638943" y="191904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Current Tracking</a:t>
            </a:r>
            <a:endParaRPr b="0" i="0" sz="2200" u="none" cap="none" strike="noStrike"/>
          </a:p>
        </p:txBody>
      </p:sp>
      <p:sp>
        <p:nvSpPr>
          <p:cNvPr id="71" name="Google Shape;71;p3"/>
          <p:cNvSpPr/>
          <p:nvPr/>
        </p:nvSpPr>
        <p:spPr>
          <a:xfrm>
            <a:off x="9638943" y="2500193"/>
            <a:ext cx="420516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Company tracks only daily total sales per branch.</a:t>
            </a:r>
            <a:endParaRPr b="0" i="0" sz="17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9638943" y="34528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 Gaps</a:t>
            </a:r>
            <a:endParaRPr b="0" i="0" sz="220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9638943" y="4033957"/>
            <a:ext cx="420516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High customer volume and lack of customer and product-level data prevent accurate assessment of behavior, performance, and efficiency.</a:t>
            </a:r>
            <a:endParaRPr b="0" i="0" sz="175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9638943" y="57123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Strategic Impact</a:t>
            </a:r>
            <a:endParaRPr b="0" i="0" sz="22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9638943" y="6293525"/>
            <a:ext cx="420516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Restricts forecasting, inventory planning, and growth strategy development.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793790" y="79629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Objectives</a:t>
            </a:r>
            <a:endParaRPr b="0" i="0" sz="4450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793790" y="1958697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1750" u="none" cap="none" strike="noStrike"/>
          </a:p>
        </p:txBody>
      </p:sp>
      <p:sp>
        <p:nvSpPr>
          <p:cNvPr id="83" name="Google Shape;83;p4"/>
          <p:cNvSpPr/>
          <p:nvPr/>
        </p:nvSpPr>
        <p:spPr>
          <a:xfrm>
            <a:off x="793790" y="231374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93790" y="2488049"/>
            <a:ext cx="29141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Evaluate Performance</a:t>
            </a:r>
            <a:endParaRPr b="0" i="0" sz="2200" u="none" cap="none" strike="noStrike"/>
          </a:p>
        </p:txBody>
      </p:sp>
      <p:sp>
        <p:nvSpPr>
          <p:cNvPr id="85" name="Google Shape;85;p4"/>
          <p:cNvSpPr/>
          <p:nvPr/>
        </p:nvSpPr>
        <p:spPr>
          <a:xfrm>
            <a:off x="793790" y="2978468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Assess overall 2025 sales performance</a:t>
            </a:r>
            <a:endParaRPr b="0" i="0" sz="175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5216940" y="1958700"/>
            <a:ext cx="422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lang="en-US" sz="1750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</a:t>
            </a: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2</a:t>
            </a:r>
            <a:endParaRPr b="0" i="0" sz="175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5216962" y="231374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216962" y="248804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Compare Branches</a:t>
            </a:r>
            <a:endParaRPr b="0" i="0" sz="220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5216962" y="297846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Analyze branch contributions</a:t>
            </a:r>
            <a:endParaRPr b="0" i="0" sz="175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9640119" y="1958700"/>
            <a:ext cx="422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175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9640133" y="231374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9640133" y="248804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Identify Trends</a:t>
            </a:r>
            <a:endParaRPr b="0" i="0" sz="22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9640133" y="297846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Detect seasonal patterns</a:t>
            </a:r>
            <a:endParaRPr b="0" i="0" sz="17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793816" y="4101100"/>
            <a:ext cx="585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04</a:t>
            </a:r>
            <a:endParaRPr b="0" i="0" sz="175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793790" y="445615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793790" y="4630460"/>
            <a:ext cx="287988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Measure Consistency</a:t>
            </a:r>
            <a:endParaRPr b="0" i="0" sz="22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93790" y="512087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Evaluate operational performance</a:t>
            </a:r>
            <a:endParaRPr b="0" i="0" sz="17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5216936" y="4101100"/>
            <a:ext cx="489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05</a:t>
            </a:r>
            <a:endParaRPr b="0" i="0" sz="17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5216962" y="445615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216962" y="46304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Calculate Growth</a:t>
            </a:r>
            <a:endParaRPr b="0" i="0" sz="220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5216962" y="512087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Determine sales growth rate</a:t>
            </a:r>
            <a:endParaRPr b="0" i="0" sz="17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9640120" y="4101100"/>
            <a:ext cx="372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06</a:t>
            </a:r>
            <a:endParaRPr b="0" i="0" sz="17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9640133" y="4456152"/>
            <a:ext cx="4196358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640133" y="46304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Assess Risk</a:t>
            </a:r>
            <a:endParaRPr b="0" i="0" sz="22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9640133" y="5120878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Identify revenue concentration</a:t>
            </a:r>
            <a:endParaRPr b="0" i="0" sz="175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793812" y="5880625"/>
            <a:ext cx="489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DM Sans Light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07</a:t>
            </a:r>
            <a:endParaRPr b="0" i="0" sz="17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93790" y="6235660"/>
            <a:ext cx="13042702" cy="30480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93790" y="64099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Provide Insights</a:t>
            </a:r>
            <a:endParaRPr b="0" i="0" sz="22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793790" y="6900386"/>
            <a:ext cx="1304270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Deliver data-driven recommendations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722233" y="714732"/>
            <a:ext cx="5159454" cy="644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050"/>
              <a:buFont typeface="DM Sans Medium"/>
              <a:buNone/>
            </a:pPr>
            <a:r>
              <a:rPr b="0" i="0" lang="en-US" sz="40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Dashboard Overview</a:t>
            </a:r>
            <a:endParaRPr b="0" i="0" sz="4050" u="none" cap="none" strike="noStrike"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33" y="1735098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722233" y="2485668"/>
            <a:ext cx="2579727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Total Revenue</a:t>
            </a:r>
            <a:endParaRPr b="0" i="0" sz="20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722233" y="2920722"/>
            <a:ext cx="6475571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Aggregate sales across all branches</a:t>
            </a:r>
            <a:endParaRPr b="0" i="0" sz="1600" u="none" cap="none" strike="noStrike"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477" y="1735098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7432477" y="2485668"/>
            <a:ext cx="2579727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lang="en-US" sz="200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Average </a:t>
            </a: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Sales</a:t>
            </a:r>
            <a:endParaRPr b="0" i="0" sz="20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432477" y="2920722"/>
            <a:ext cx="6475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Average dails sales across branches</a:t>
            </a:r>
            <a:endParaRPr sz="1600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33" y="3611404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722233" y="4361974"/>
            <a:ext cx="2579727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Monthly Trends</a:t>
            </a:r>
            <a:endParaRPr b="0" i="0" sz="200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722233" y="4797028"/>
            <a:ext cx="6475571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Seasonal performance patterns</a:t>
            </a:r>
            <a:endParaRPr b="0" i="0" sz="1600" u="none" cap="none" strike="noStrike"/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477" y="3611404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7432477" y="4361974"/>
            <a:ext cx="2579727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Branch Performance</a:t>
            </a:r>
            <a:endParaRPr b="0" i="0" sz="20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432477" y="4797028"/>
            <a:ext cx="6475690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Individual location metrics</a:t>
            </a:r>
            <a:endParaRPr b="0" i="0" sz="1600" u="none" cap="none" strike="noStrike"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233" y="5487710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722233" y="6238280"/>
            <a:ext cx="2579727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Operating Rate</a:t>
            </a:r>
            <a:endParaRPr b="0" i="0" sz="200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722233" y="6673334"/>
            <a:ext cx="6475571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Days open vs. total working days</a:t>
            </a:r>
            <a:endParaRPr b="0" i="0" sz="1600" u="none" cap="none" strike="noStrike"/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2477" y="5487710"/>
            <a:ext cx="515898" cy="51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432477" y="6238280"/>
            <a:ext cx="2642949" cy="322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000"/>
              <a:buFont typeface="DM Sans Medium"/>
              <a:buNone/>
            </a:pPr>
            <a:r>
              <a:rPr b="0" i="0" lang="en-US" sz="20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Revenue Contribution</a:t>
            </a:r>
            <a:endParaRPr b="0" i="0" sz="20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7432477" y="6673334"/>
            <a:ext cx="6475690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Branch-level revenue share</a:t>
            </a:r>
            <a:endParaRPr b="0" i="0" sz="160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722233" y="7199709"/>
            <a:ext cx="13185934" cy="315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Filters enable analysis by month and branch for targeted insights.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6171128" y="721757"/>
            <a:ext cx="4891564" cy="61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850"/>
              <a:buFont typeface="DM Sans Medium"/>
              <a:buNone/>
            </a:pPr>
            <a:r>
              <a:rPr b="0" i="0" lang="en-US" sz="38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Findings</a:t>
            </a:r>
            <a:endParaRPr b="0" i="0" sz="385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6171128" y="1586270"/>
            <a:ext cx="7774543" cy="1426726"/>
          </a:xfrm>
          <a:prstGeom prst="roundRect">
            <a:avLst>
              <a:gd fmla="val 7691" name="adj"/>
            </a:avLst>
          </a:prstGeom>
          <a:solidFill>
            <a:srgbClr val="F9F8F5"/>
          </a:solidFill>
          <a:ln cap="flat" cmpd="sng" w="228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148268" y="1586270"/>
            <a:ext cx="91440" cy="1426726"/>
          </a:xfrm>
          <a:prstGeom prst="roundRect">
            <a:avLst>
              <a:gd fmla="val 3209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458188" y="1804749"/>
            <a:ext cx="2706172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 Medium"/>
              <a:buNone/>
            </a:pPr>
            <a:r>
              <a:rPr b="0" i="0" lang="en-US" sz="1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Revenue Concentration</a:t>
            </a:r>
            <a:endParaRPr b="0" i="0" sz="19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6458188" y="2211586"/>
            <a:ext cx="726900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Revenue is highly concentrated among top-performing branches, creating concentration risk.</a:t>
            </a:r>
            <a:endParaRPr b="0" i="0" sz="15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6171128" y="3181707"/>
            <a:ext cx="7774543" cy="1426726"/>
          </a:xfrm>
          <a:prstGeom prst="roundRect">
            <a:avLst>
              <a:gd fmla="val 7691" name="adj"/>
            </a:avLst>
          </a:prstGeom>
          <a:solidFill>
            <a:srgbClr val="F9F8F5"/>
          </a:solidFill>
          <a:ln cap="flat" cmpd="sng" w="228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148268" y="3181707"/>
            <a:ext cx="91440" cy="1426726"/>
          </a:xfrm>
          <a:prstGeom prst="roundRect">
            <a:avLst>
              <a:gd fmla="val 3209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458188" y="3400187"/>
            <a:ext cx="2445782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 Medium"/>
              <a:buNone/>
            </a:pPr>
            <a:r>
              <a:rPr b="0" i="0" lang="en-US" sz="1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Seasonal Trends</a:t>
            </a:r>
            <a:endParaRPr b="0" i="0" sz="19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6458188" y="3807023"/>
            <a:ext cx="726900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Certain months consistently outperform others, indicating clear seasonality patterns.</a:t>
            </a:r>
            <a:endParaRPr b="0" i="0" sz="15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6171128" y="4777145"/>
            <a:ext cx="7774543" cy="1426726"/>
          </a:xfrm>
          <a:prstGeom prst="roundRect">
            <a:avLst>
              <a:gd fmla="val 7691" name="adj"/>
            </a:avLst>
          </a:prstGeom>
          <a:solidFill>
            <a:srgbClr val="F9F8F5"/>
          </a:solidFill>
          <a:ln cap="flat" cmpd="sng" w="228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148268" y="4777145"/>
            <a:ext cx="91440" cy="1426726"/>
          </a:xfrm>
          <a:prstGeom prst="roundRect">
            <a:avLst>
              <a:gd fmla="val 3209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458188" y="4995624"/>
            <a:ext cx="2445782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 Medium"/>
              <a:buNone/>
            </a:pPr>
            <a:r>
              <a:rPr b="0" i="0" lang="en-US" sz="1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Positive Growth</a:t>
            </a:r>
            <a:endParaRPr b="0" i="0" sz="190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6458188" y="5402461"/>
            <a:ext cx="726900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Sales show positive overall growth but experience significant monthly fluctuations.</a:t>
            </a:r>
            <a:endParaRPr b="0" i="0" sz="150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6171128" y="6372582"/>
            <a:ext cx="7774543" cy="1135261"/>
          </a:xfrm>
          <a:prstGeom prst="roundRect">
            <a:avLst>
              <a:gd fmla="val 9665" name="adj"/>
            </a:avLst>
          </a:prstGeom>
          <a:solidFill>
            <a:srgbClr val="F9F8F5"/>
          </a:solidFill>
          <a:ln cap="flat" cmpd="sng" w="22850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148268" y="6372582"/>
            <a:ext cx="91440" cy="1135261"/>
          </a:xfrm>
          <a:prstGeom prst="roundRect">
            <a:avLst>
              <a:gd fmla="val 32098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458188" y="6591062"/>
            <a:ext cx="2445782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900"/>
              <a:buFont typeface="DM Sans Medium"/>
              <a:buNone/>
            </a:pPr>
            <a:r>
              <a:rPr b="0" i="0" lang="en-US" sz="19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Volatility</a:t>
            </a:r>
            <a:endParaRPr b="0" i="0" sz="1900" u="none" cap="none" strike="noStrike"/>
          </a:p>
        </p:txBody>
      </p:sp>
      <p:sp>
        <p:nvSpPr>
          <p:cNvPr id="157" name="Google Shape;157;p6"/>
          <p:cNvSpPr/>
          <p:nvPr/>
        </p:nvSpPr>
        <p:spPr>
          <a:xfrm>
            <a:off x="6458188" y="6997898"/>
            <a:ext cx="7269004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Daily sales volatility remains high across all locations.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2471857" y="600313"/>
            <a:ext cx="3509605" cy="438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Recommendations</a:t>
            </a:r>
            <a:endParaRPr b="0" i="0" sz="275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2612231" y="1423273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471857" y="1331119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108" y="1436489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2979774" y="1353150"/>
            <a:ext cx="2386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</a:t>
            </a:r>
            <a:r>
              <a:rPr lang="en-US" sz="13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taff Feedback System</a:t>
            </a:r>
            <a:endParaRPr b="0" i="0" sz="135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2979777" y="1624489"/>
            <a:ext cx="9178647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Management can implement a structured staff feedback mechanism</a:t>
            </a:r>
            <a:endParaRPr b="0" i="0" sz="11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2822734" y="2352318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682359" y="2260163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610" y="2365534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3190280" y="2282190"/>
            <a:ext cx="1787843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Management Reviews</a:t>
            </a:r>
            <a:endParaRPr b="0" i="0" sz="135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3190280" y="2553533"/>
            <a:ext cx="8968145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Use dashboard in regular management reviews</a:t>
            </a:r>
            <a:endParaRPr b="0" i="0" sz="11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3033355" y="3281363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892981" y="3189208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232" y="3294578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3400899" y="3211225"/>
            <a:ext cx="399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lang="en-US" sz="1350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Optimize 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Inventory Based on Branch Strength</a:t>
            </a:r>
            <a:endParaRPr b="0" i="0" sz="135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3400901" y="3482578"/>
            <a:ext cx="8757523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Optimize inventory distribution by prioritizing high-demand products in branches where they sell the most</a:t>
            </a:r>
            <a:endParaRPr b="0" i="0" sz="11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3243858" y="4210407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103483" y="4118253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734" y="4223623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3611404" y="4140279"/>
            <a:ext cx="1754743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Deploy POS</a:t>
            </a:r>
            <a:endParaRPr b="0" i="0" sz="135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3611404" y="4411623"/>
            <a:ext cx="8547021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Install point-of-sale system for transaction-level data</a:t>
            </a:r>
            <a:endParaRPr b="0" i="0" sz="110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3033355" y="5139452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2892981" y="5047298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232" y="5152668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3400901" y="5069324"/>
            <a:ext cx="1754743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Centralize Data</a:t>
            </a:r>
            <a:endParaRPr b="0" i="0" sz="135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3400901" y="5340668"/>
            <a:ext cx="8757523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Centralize database for unified reporting</a:t>
            </a:r>
            <a:endParaRPr b="0" i="0" sz="1100" u="none" cap="none" strike="noStrike"/>
          </a:p>
        </p:txBody>
      </p:sp>
      <p:sp>
        <p:nvSpPr>
          <p:cNvPr id="189" name="Google Shape;189;p7"/>
          <p:cNvSpPr/>
          <p:nvPr/>
        </p:nvSpPr>
        <p:spPr>
          <a:xfrm>
            <a:off x="2822734" y="6068497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2682359" y="5976342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610" y="6081713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3190280" y="5998369"/>
            <a:ext cx="1754743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Automate Reporting</a:t>
            </a:r>
            <a:endParaRPr b="0" i="0" sz="1350" u="none" cap="none" strike="noStrike"/>
          </a:p>
        </p:txBody>
      </p:sp>
      <p:sp>
        <p:nvSpPr>
          <p:cNvPr id="193" name="Google Shape;193;p7"/>
          <p:cNvSpPr/>
          <p:nvPr/>
        </p:nvSpPr>
        <p:spPr>
          <a:xfrm>
            <a:off x="3190280" y="6269712"/>
            <a:ext cx="8968145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Automate reporting processes</a:t>
            </a:r>
            <a:endParaRPr b="0" i="0" sz="110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2612231" y="6997541"/>
            <a:ext cx="140375" cy="631627"/>
          </a:xfrm>
          <a:prstGeom prst="roundRect">
            <a:avLst>
              <a:gd fmla="val 15001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471857" y="6905387"/>
            <a:ext cx="421124" cy="421124"/>
          </a:xfrm>
          <a:prstGeom prst="roundRect">
            <a:avLst>
              <a:gd fmla="val 1085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108" y="7010757"/>
            <a:ext cx="210503" cy="21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2979777" y="6927413"/>
            <a:ext cx="1754743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Forecast Models</a:t>
            </a:r>
            <a:endParaRPr b="0" i="0" sz="1350" u="none" cap="none" strike="noStrike"/>
          </a:p>
        </p:txBody>
      </p:sp>
      <p:sp>
        <p:nvSpPr>
          <p:cNvPr id="198" name="Google Shape;198;p7"/>
          <p:cNvSpPr/>
          <p:nvPr/>
        </p:nvSpPr>
        <p:spPr>
          <a:xfrm>
            <a:off x="2979777" y="7198757"/>
            <a:ext cx="9178647" cy="18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Implement forecasting models for better planning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200"/>
              <a:buFont typeface="DM Sans Medium"/>
              <a:buNone/>
            </a:pPr>
            <a:r>
              <a:rPr b="0" i="0" lang="en-US" sz="4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Conclusion</a:t>
            </a:r>
            <a:endParaRPr b="0" i="0" sz="4200" u="none" cap="none" strike="noStrike"/>
          </a:p>
        </p:txBody>
      </p:sp>
      <p:sp>
        <p:nvSpPr>
          <p:cNvPr id="205" name="Google Shape;205;p8"/>
          <p:cNvSpPr/>
          <p:nvPr/>
        </p:nvSpPr>
        <p:spPr>
          <a:xfrm>
            <a:off x="749856" y="3702725"/>
            <a:ext cx="8351996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EMMA N. VENTURES has built a strong revenue foundation in 2025. With improved data systems, operational discipline, and strategic investment in high-performing branches, the business can achieve sustainable long-term growth.</a:t>
            </a:r>
            <a:endParaRPr b="0" i="0" sz="1650" u="none" cap="none" strike="noStrike"/>
          </a:p>
        </p:txBody>
      </p:sp>
      <p:sp>
        <p:nvSpPr>
          <p:cNvPr id="206" name="Google Shape;206;p8"/>
          <p:cNvSpPr/>
          <p:nvPr/>
        </p:nvSpPr>
        <p:spPr>
          <a:xfrm>
            <a:off x="749856" y="4885015"/>
            <a:ext cx="835199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interactive dashboard provides management with real-time insights into performance, trends, and operational efficiency.</a:t>
            </a:r>
            <a:endParaRPr b="0" i="0" sz="1650" u="none" cap="none" strike="noStrike"/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2156" y="1789986"/>
            <a:ext cx="4255889" cy="567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92730"/>
            <a:ext cx="4919305" cy="26441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793790" y="3045976"/>
            <a:ext cx="747783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4450"/>
              <a:buFont typeface="DM Sans Medium"/>
              <a:buNone/>
            </a:pPr>
            <a:r>
              <a:rPr b="0" i="0" lang="en-US" sz="4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Interactive Sales Dashboard</a:t>
            </a:r>
            <a:endParaRPr b="0" i="0" sz="4450" u="none" cap="none" strike="noStrike"/>
          </a:p>
        </p:txBody>
      </p:sp>
      <p:sp>
        <p:nvSpPr>
          <p:cNvPr id="216" name="Google Shape;216;p9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The dashboard presents Total Revenue, Sales Growth Rate, Monthly Sales Trend, Branch Performance, Operating Rate, and Revenue Contribution by Branch. Filters allow analysis by month and branch.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2026-03-12T14:35:16Z</dcterms:created>
</cp:coreProperties>
</file>