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Raleway"/>
      <p:regular r:id="rId17"/>
      <p:bold r:id="rId18"/>
      <p:italic r:id="rId19"/>
      <p:boldItalic r:id="rId20"/>
    </p:embeddedFont>
    <p:embeddedFont>
      <p:font typeface="DM Sans Medium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Heebo Light"/>
      <p:regular r:id="rId37"/>
      <p:bold r:id="rId38"/>
    </p:embeddedFont>
    <p:embeddedFont>
      <p:font typeface="DM Sans 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gdo+MBCBQjI/U1ZgFF5LUWp0Oc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Light-bold.fntdata"/><Relationship Id="rId20" Type="http://schemas.openxmlformats.org/officeDocument/2006/relationships/font" Target="fonts/Raleway-boldItalic.fntdata"/><Relationship Id="rId42" Type="http://schemas.openxmlformats.org/officeDocument/2006/relationships/font" Target="fonts/DMSansLight-boldItalic.fntdata"/><Relationship Id="rId41" Type="http://schemas.openxmlformats.org/officeDocument/2006/relationships/font" Target="fonts/DMSansLight-italic.fntdata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43" Type="http://customschemas.google.com/relationships/presentationmetadata" Target="meta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7.xml"/><Relationship Id="rId33" Type="http://schemas.openxmlformats.org/officeDocument/2006/relationships/font" Target="fonts/Inter-regular.fntdata"/><Relationship Id="rId10" Type="http://schemas.openxmlformats.org/officeDocument/2006/relationships/slide" Target="slides/slide6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35" Type="http://schemas.openxmlformats.org/officeDocument/2006/relationships/font" Target="fonts/Inter-italic.fntdata"/><Relationship Id="rId12" Type="http://schemas.openxmlformats.org/officeDocument/2006/relationships/slide" Target="slides/slide8.xml"/><Relationship Id="rId34" Type="http://schemas.openxmlformats.org/officeDocument/2006/relationships/font" Target="fonts/Inter-bold.fntdata"/><Relationship Id="rId15" Type="http://schemas.openxmlformats.org/officeDocument/2006/relationships/slide" Target="slides/slide11.xml"/><Relationship Id="rId37" Type="http://schemas.openxmlformats.org/officeDocument/2006/relationships/font" Target="fonts/HeeboLight-regular.fntdata"/><Relationship Id="rId14" Type="http://schemas.openxmlformats.org/officeDocument/2006/relationships/slide" Target="slides/slide10.xml"/><Relationship Id="rId36" Type="http://schemas.openxmlformats.org/officeDocument/2006/relationships/font" Target="fonts/Inter-boldItalic.fntdata"/><Relationship Id="rId17" Type="http://schemas.openxmlformats.org/officeDocument/2006/relationships/font" Target="fonts/Raleway-regular.fntdata"/><Relationship Id="rId39" Type="http://schemas.openxmlformats.org/officeDocument/2006/relationships/font" Target="fonts/DMSansLight-regular.fntdata"/><Relationship Id="rId16" Type="http://schemas.openxmlformats.org/officeDocument/2006/relationships/slide" Target="slides/slide12.xml"/><Relationship Id="rId38" Type="http://schemas.openxmlformats.org/officeDocument/2006/relationships/font" Target="fonts/HeeboLight-bold.fntdata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dd1754675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g3cdd1754675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cdd1754675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fca2392e4_0_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3cfca2392e4_0_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cfca2392e4_0_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fca2392e4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cfca2392e4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cfca2392e4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fca2392e4_2_125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cfca2392e4_2_125"/>
          <p:cNvGrpSpPr/>
          <p:nvPr/>
        </p:nvGrpSpPr>
        <p:grpSpPr>
          <a:xfrm>
            <a:off x="1328810" y="1906009"/>
            <a:ext cx="1193264" cy="73322"/>
            <a:chOff x="4580561" y="2589004"/>
            <a:chExt cx="1064464" cy="25200"/>
          </a:xfrm>
        </p:grpSpPr>
        <p:sp>
          <p:nvSpPr>
            <p:cNvPr id="12" name="Google Shape;12;g3cfca2392e4_2_1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cfca2392e4_2_1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cfca2392e4_2_125"/>
          <p:cNvSpPr txBox="1"/>
          <p:nvPr>
            <p:ph type="ctrTitle"/>
          </p:nvPr>
        </p:nvSpPr>
        <p:spPr>
          <a:xfrm>
            <a:off x="1167120" y="2115920"/>
            <a:ext cx="12300900" cy="2663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15" name="Google Shape;15;g3cfca2392e4_2_125"/>
          <p:cNvSpPr txBox="1"/>
          <p:nvPr>
            <p:ph idx="1" type="subTitle"/>
          </p:nvPr>
        </p:nvSpPr>
        <p:spPr>
          <a:xfrm>
            <a:off x="1167404" y="5076640"/>
            <a:ext cx="12300900" cy="86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6" name="Google Shape;16;g3cfca2392e4_2_125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cfca2392e4_2_133"/>
          <p:cNvGrpSpPr/>
          <p:nvPr/>
        </p:nvGrpSpPr>
        <p:grpSpPr>
          <a:xfrm>
            <a:off x="1328810" y="1906009"/>
            <a:ext cx="1193264" cy="73322"/>
            <a:chOff x="4580561" y="2589004"/>
            <a:chExt cx="1064464" cy="25200"/>
          </a:xfrm>
        </p:grpSpPr>
        <p:sp>
          <p:nvSpPr>
            <p:cNvPr id="19" name="Google Shape;19;g3cfca2392e4_2_1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cfca2392e4_2_1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cfca2392e4_2_133"/>
          <p:cNvSpPr txBox="1"/>
          <p:nvPr>
            <p:ph type="title"/>
          </p:nvPr>
        </p:nvSpPr>
        <p:spPr>
          <a:xfrm>
            <a:off x="1167120" y="2115920"/>
            <a:ext cx="12301500" cy="2429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cfca2392e4_2_133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cfca2392e4_2_139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cfca2392e4_2_139"/>
          <p:cNvGrpSpPr/>
          <p:nvPr/>
        </p:nvGrpSpPr>
        <p:grpSpPr>
          <a:xfrm>
            <a:off x="1328810" y="1906009"/>
            <a:ext cx="1193264" cy="73322"/>
            <a:chOff x="4580561" y="2589004"/>
            <a:chExt cx="1064464" cy="25200"/>
          </a:xfrm>
        </p:grpSpPr>
        <p:sp>
          <p:nvSpPr>
            <p:cNvPr id="26" name="Google Shape;26;g3cfca2392e4_2_13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cfca2392e4_2_13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cfca2392e4_2_139"/>
          <p:cNvSpPr txBox="1"/>
          <p:nvPr>
            <p:ph type="title"/>
          </p:nvPr>
        </p:nvSpPr>
        <p:spPr>
          <a:xfrm>
            <a:off x="1167120" y="2109840"/>
            <a:ext cx="12301800" cy="85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" name="Google Shape;29;g3cfca2392e4_2_139"/>
          <p:cNvSpPr txBox="1"/>
          <p:nvPr>
            <p:ph idx="1" type="body"/>
          </p:nvPr>
        </p:nvSpPr>
        <p:spPr>
          <a:xfrm>
            <a:off x="1167120" y="3326200"/>
            <a:ext cx="12301800" cy="3617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0" name="Google Shape;30;g3cfca2392e4_2_139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cfca2392e4_2_147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cfca2392e4_2_147"/>
          <p:cNvGrpSpPr/>
          <p:nvPr/>
        </p:nvGrpSpPr>
        <p:grpSpPr>
          <a:xfrm>
            <a:off x="1328810" y="1906009"/>
            <a:ext cx="1193264" cy="73322"/>
            <a:chOff x="4580561" y="2589004"/>
            <a:chExt cx="1064464" cy="25200"/>
          </a:xfrm>
        </p:grpSpPr>
        <p:sp>
          <p:nvSpPr>
            <p:cNvPr id="34" name="Google Shape;34;g3cfca2392e4_2_1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cfca2392e4_2_1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cfca2392e4_2_147"/>
          <p:cNvSpPr txBox="1"/>
          <p:nvPr>
            <p:ph type="title"/>
          </p:nvPr>
        </p:nvSpPr>
        <p:spPr>
          <a:xfrm>
            <a:off x="1167120" y="2109840"/>
            <a:ext cx="12301500" cy="85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g3cfca2392e4_2_147"/>
          <p:cNvSpPr txBox="1"/>
          <p:nvPr>
            <p:ph idx="1" type="body"/>
          </p:nvPr>
        </p:nvSpPr>
        <p:spPr>
          <a:xfrm>
            <a:off x="1166920" y="3326200"/>
            <a:ext cx="6039000" cy="3617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8" name="Google Shape;38;g3cfca2392e4_2_147"/>
          <p:cNvSpPr txBox="1"/>
          <p:nvPr>
            <p:ph idx="2" type="body"/>
          </p:nvPr>
        </p:nvSpPr>
        <p:spPr>
          <a:xfrm>
            <a:off x="7429766" y="3326200"/>
            <a:ext cx="6039000" cy="3617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9" name="Google Shape;39;g3cfca2392e4_2_147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fca2392e4_2_156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cfca2392e4_2_156"/>
          <p:cNvGrpSpPr/>
          <p:nvPr/>
        </p:nvGrpSpPr>
        <p:grpSpPr>
          <a:xfrm>
            <a:off x="1328810" y="1906009"/>
            <a:ext cx="1193264" cy="73322"/>
            <a:chOff x="4580561" y="2589004"/>
            <a:chExt cx="1064464" cy="25200"/>
          </a:xfrm>
        </p:grpSpPr>
        <p:sp>
          <p:nvSpPr>
            <p:cNvPr id="43" name="Google Shape;43;g3cfca2392e4_2_1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cfca2392e4_2_1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cfca2392e4_2_156"/>
          <p:cNvSpPr txBox="1"/>
          <p:nvPr>
            <p:ph type="title"/>
          </p:nvPr>
        </p:nvSpPr>
        <p:spPr>
          <a:xfrm>
            <a:off x="1167120" y="2109840"/>
            <a:ext cx="12301500" cy="85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g3cfca2392e4_2_156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fca2392e4_2_163"/>
          <p:cNvSpPr/>
          <p:nvPr/>
        </p:nvSpPr>
        <p:spPr>
          <a:xfrm>
            <a:off x="0" y="0"/>
            <a:ext cx="14630400" cy="78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cfca2392e4_2_163"/>
          <p:cNvGrpSpPr/>
          <p:nvPr/>
        </p:nvGrpSpPr>
        <p:grpSpPr>
          <a:xfrm>
            <a:off x="1328810" y="1906009"/>
            <a:ext cx="1193264" cy="73322"/>
            <a:chOff x="4580561" y="2589004"/>
            <a:chExt cx="1064464" cy="25200"/>
          </a:xfrm>
        </p:grpSpPr>
        <p:sp>
          <p:nvSpPr>
            <p:cNvPr id="50" name="Google Shape;50;g3cfca2392e4_2_1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cfca2392e4_2_1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cfca2392e4_2_163"/>
          <p:cNvSpPr txBox="1"/>
          <p:nvPr>
            <p:ph type="title"/>
          </p:nvPr>
        </p:nvSpPr>
        <p:spPr>
          <a:xfrm>
            <a:off x="1168000" y="2109840"/>
            <a:ext cx="5281500" cy="2210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g3cfca2392e4_2_163"/>
          <p:cNvSpPr txBox="1"/>
          <p:nvPr>
            <p:ph idx="1" type="body"/>
          </p:nvPr>
        </p:nvSpPr>
        <p:spPr>
          <a:xfrm>
            <a:off x="1153960" y="4450760"/>
            <a:ext cx="5281500" cy="2556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g3cfca2392e4_2_163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cfca2392e4_2_171"/>
          <p:cNvGrpSpPr/>
          <p:nvPr/>
        </p:nvGrpSpPr>
        <p:grpSpPr>
          <a:xfrm>
            <a:off x="1328810" y="6670608"/>
            <a:ext cx="1193264" cy="73322"/>
            <a:chOff x="4580561" y="2589004"/>
            <a:chExt cx="1064464" cy="25200"/>
          </a:xfrm>
        </p:grpSpPr>
        <p:sp>
          <p:nvSpPr>
            <p:cNvPr id="57" name="Google Shape;57;g3cfca2392e4_2_1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cfca2392e4_2_1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cfca2392e4_2_171"/>
          <p:cNvSpPr txBox="1"/>
          <p:nvPr>
            <p:ph type="title"/>
          </p:nvPr>
        </p:nvSpPr>
        <p:spPr>
          <a:xfrm>
            <a:off x="1167120" y="1382880"/>
            <a:ext cx="11233800" cy="47760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cfca2392e4_2_171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fca2392e4_2_177"/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cfca2392e4_2_177"/>
          <p:cNvGrpSpPr/>
          <p:nvPr/>
        </p:nvGrpSpPr>
        <p:grpSpPr>
          <a:xfrm>
            <a:off x="1328810" y="1906009"/>
            <a:ext cx="1193264" cy="73322"/>
            <a:chOff x="4580561" y="2589004"/>
            <a:chExt cx="1064464" cy="25200"/>
          </a:xfrm>
        </p:grpSpPr>
        <p:sp>
          <p:nvSpPr>
            <p:cNvPr id="64" name="Google Shape;64;g3cfca2392e4_2_17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cfca2392e4_2_17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cfca2392e4_2_177"/>
          <p:cNvSpPr txBox="1"/>
          <p:nvPr>
            <p:ph type="title"/>
          </p:nvPr>
        </p:nvSpPr>
        <p:spPr>
          <a:xfrm>
            <a:off x="1168000" y="2109840"/>
            <a:ext cx="5281500" cy="2699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g3cfca2392e4_2_177"/>
          <p:cNvSpPr txBox="1"/>
          <p:nvPr>
            <p:ph idx="1" type="subTitle"/>
          </p:nvPr>
        </p:nvSpPr>
        <p:spPr>
          <a:xfrm>
            <a:off x="1159920" y="5058440"/>
            <a:ext cx="5281500" cy="1214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8" name="Google Shape;68;g3cfca2392e4_2_177"/>
          <p:cNvSpPr txBox="1"/>
          <p:nvPr>
            <p:ph idx="2" type="body"/>
          </p:nvPr>
        </p:nvSpPr>
        <p:spPr>
          <a:xfrm>
            <a:off x="8278760" y="2164200"/>
            <a:ext cx="5399100" cy="4840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" name="Google Shape;69;g3cfca2392e4_2_177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fca2392e4_2_186"/>
          <p:cNvSpPr txBox="1"/>
          <p:nvPr>
            <p:ph idx="1" type="body"/>
          </p:nvPr>
        </p:nvSpPr>
        <p:spPr>
          <a:xfrm>
            <a:off x="1159920" y="6996082"/>
            <a:ext cx="12315900" cy="7368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72" name="Google Shape;72;g3cfca2392e4_2_186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cfca2392e4_2_189"/>
          <p:cNvGrpSpPr/>
          <p:nvPr/>
        </p:nvGrpSpPr>
        <p:grpSpPr>
          <a:xfrm>
            <a:off x="1328810" y="6670608"/>
            <a:ext cx="1193264" cy="73322"/>
            <a:chOff x="4580561" y="2589004"/>
            <a:chExt cx="1064464" cy="25200"/>
          </a:xfrm>
        </p:grpSpPr>
        <p:sp>
          <p:nvSpPr>
            <p:cNvPr id="75" name="Google Shape;75;g3cfca2392e4_2_18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cfca2392e4_2_18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cfca2392e4_2_189"/>
          <p:cNvSpPr txBox="1"/>
          <p:nvPr>
            <p:ph hasCustomPrompt="1" type="title"/>
          </p:nvPr>
        </p:nvSpPr>
        <p:spPr>
          <a:xfrm>
            <a:off x="1167120" y="1174320"/>
            <a:ext cx="12301500" cy="1991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00"/>
              <a:buNone/>
              <a:defRPr sz="12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cfca2392e4_2_189"/>
          <p:cNvSpPr txBox="1"/>
          <p:nvPr>
            <p:ph idx="1" type="body"/>
          </p:nvPr>
        </p:nvSpPr>
        <p:spPr>
          <a:xfrm>
            <a:off x="1167120" y="3636621"/>
            <a:ext cx="12301500" cy="2528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cfca2392e4_2_189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ca2392e4_2_196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g3cfca2392e4_2_1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cfca2392e4_2_19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g3cfca2392e4_2_2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cfca2392e4_2_20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g3cfca2392e4_2_2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cfca2392e4_2_20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g3cfca2392e4_2_2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cfca2392e4_2_20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g3cfca2392e4_2_2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cfca2392e4_2_2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g3cfca2392e4_2_2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cfca2392e4_2_2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g3cfca2392e4_2_2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cfca2392e4_2_2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g3cfca2392e4_2_2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cfca2392e4_2_2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g3cfca2392e4_2_2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cfca2392e4_2_2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g3cfca2392e4_2_2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cfca2392e4_2_2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cfca2392e4_2_12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Raleway"/>
              <a:buNone/>
              <a:defRPr b="1" sz="4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cfca2392e4_2_12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Lato"/>
              <a:buChar char="●"/>
              <a:defRPr sz="2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■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■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■"/>
              <a:defRPr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cfca2392e4_2_121"/>
          <p:cNvSpPr txBox="1"/>
          <p:nvPr>
            <p:ph idx="12" type="sldNum"/>
          </p:nvPr>
        </p:nvSpPr>
        <p:spPr>
          <a:xfrm>
            <a:off x="13658084" y="7599761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"/>
          <p:cNvSpPr/>
          <p:nvPr/>
        </p:nvSpPr>
        <p:spPr>
          <a:xfrm>
            <a:off x="6280190" y="199715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b="0" i="0" lang="en-US" sz="44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Final Dashboard &amp; Strategic Insights Report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6280190" y="397394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AI Data Insights Team 15 • Week 04 • March 09, 2026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63525" y="7768313"/>
            <a:ext cx="1268412" cy="235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1999" y="1015088"/>
            <a:ext cx="3458601" cy="642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793790" y="342866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82600" y="1423926"/>
            <a:ext cx="6408000" cy="6357300"/>
          </a:xfrm>
          <a:prstGeom prst="roundRect">
            <a:avLst>
              <a:gd fmla="val 2679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860" y="1493043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/>
          <p:nvPr/>
        </p:nvSpPr>
        <p:spPr>
          <a:xfrm>
            <a:off x="1028225" y="2354525"/>
            <a:ext cx="5939100" cy="5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Title Slide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Agenda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Introduction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Executive Summary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Dataset Overview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Historical Application Analysis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Model Development and Performance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Feature Important Analysis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Prediction Forecast Analysis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Integrated Dashboard Overview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Strategic Recommendations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Conclusion and Learning Journey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662982" y="4059674"/>
            <a:ext cx="29498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68325" y="7730213"/>
            <a:ext cx="1268412" cy="2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"/>
          <p:cNvSpPr/>
          <p:nvPr/>
        </p:nvSpPr>
        <p:spPr>
          <a:xfrm>
            <a:off x="6280190" y="1571744"/>
            <a:ext cx="56777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280200" y="2567537"/>
            <a:ext cx="7858200" cy="49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25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n-US" sz="1750">
                <a:solidFill>
                  <a:schemeClr val="lt1"/>
                </a:solidFill>
              </a:rPr>
              <a:t>Historical learner application data analyzed to identify engagement patterns</a:t>
            </a:r>
            <a:endParaRPr sz="1750">
              <a:solidFill>
                <a:schemeClr val="lt1"/>
              </a:solidFill>
            </a:endParaRPr>
          </a:p>
          <a:p>
            <a:pPr indent="-339725" lvl="0" marL="457200" rtl="0" algn="l">
              <a:lnSpc>
                <a:spcPct val="25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n-US" sz="1750">
                <a:solidFill>
                  <a:schemeClr val="lt1"/>
                </a:solidFill>
              </a:rPr>
              <a:t>Exploratory analysis revealed imbalance between success and non-success outcomes</a:t>
            </a:r>
            <a:endParaRPr sz="1750">
              <a:solidFill>
                <a:schemeClr val="lt1"/>
              </a:solidFill>
            </a:endParaRPr>
          </a:p>
          <a:p>
            <a:pPr indent="-339725" lvl="0" marL="457200" rtl="0" algn="l">
              <a:lnSpc>
                <a:spcPct val="25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n-US" sz="1750">
                <a:solidFill>
                  <a:schemeClr val="lt1"/>
                </a:solidFill>
              </a:rPr>
              <a:t>Random forest model built to predict learner success probability</a:t>
            </a:r>
            <a:endParaRPr sz="1750">
              <a:solidFill>
                <a:schemeClr val="lt1"/>
              </a:solidFill>
            </a:endParaRPr>
          </a:p>
          <a:p>
            <a:pPr indent="-339725" lvl="0" marL="457200" rtl="0" algn="l">
              <a:lnSpc>
                <a:spcPct val="25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n-US" sz="1750">
                <a:solidFill>
                  <a:schemeClr val="lt1"/>
                </a:solidFill>
              </a:rPr>
              <a:t>Predictions indicate high risk of non-success outcomes</a:t>
            </a:r>
            <a:endParaRPr sz="1750">
              <a:solidFill>
                <a:schemeClr val="lt1"/>
              </a:solidFill>
            </a:endParaRPr>
          </a:p>
          <a:p>
            <a:pPr indent="-339725" lvl="0" marL="457200" rtl="0" algn="l">
              <a:lnSpc>
                <a:spcPct val="25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Char char="●"/>
            </a:pPr>
            <a:r>
              <a:rPr lang="en-US" sz="1750">
                <a:solidFill>
                  <a:schemeClr val="lt1"/>
                </a:solidFill>
              </a:rPr>
              <a:t>Insights integrated into an interactive analytics dashboard</a:t>
            </a:r>
            <a:endParaRPr sz="1750">
              <a:solidFill>
                <a:schemeClr val="lt1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pic>
        <p:nvPicPr>
          <p:cNvPr id="141" name="Google Shape;1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54025" y="7777838"/>
            <a:ext cx="1268412" cy="2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dd1754675_0_6"/>
          <p:cNvSpPr/>
          <p:nvPr/>
        </p:nvSpPr>
        <p:spPr>
          <a:xfrm>
            <a:off x="793790" y="1755577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Dataset Overview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cdd1754675_0_6"/>
          <p:cNvSpPr/>
          <p:nvPr/>
        </p:nvSpPr>
        <p:spPr>
          <a:xfrm>
            <a:off x="793790" y="2917984"/>
            <a:ext cx="6408000" cy="3555900"/>
          </a:xfrm>
          <a:prstGeom prst="roundRect">
            <a:avLst>
              <a:gd fmla="val 2679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g3cdd1754675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224" y="3152418"/>
            <a:ext cx="680442" cy="680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g3cdd1754675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390" y="3339465"/>
            <a:ext cx="306109" cy="3061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cdd1754675_0_6"/>
          <p:cNvSpPr/>
          <p:nvPr/>
        </p:nvSpPr>
        <p:spPr>
          <a:xfrm>
            <a:off x="1028224" y="4059674"/>
            <a:ext cx="2852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Application Records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cdd1754675_0_6"/>
          <p:cNvSpPr/>
          <p:nvPr/>
        </p:nvSpPr>
        <p:spPr>
          <a:xfrm>
            <a:off x="1028224" y="4550093"/>
            <a:ext cx="593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Status Description, Opportunity Category, Age Group, Country, Institution Name, Application timing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dd1754675_0_6"/>
          <p:cNvSpPr/>
          <p:nvPr/>
        </p:nvSpPr>
        <p:spPr>
          <a:xfrm>
            <a:off x="7428548" y="2917984"/>
            <a:ext cx="6408000" cy="3555900"/>
          </a:xfrm>
          <a:prstGeom prst="roundRect">
            <a:avLst>
              <a:gd fmla="val 2679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g3cdd1754675_0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2982" y="3152418"/>
            <a:ext cx="680442" cy="680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" name="Google Shape;155;g3cdd1754675_0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0148" y="3339465"/>
            <a:ext cx="306109" cy="3061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cdd1754675_0_6"/>
          <p:cNvSpPr/>
          <p:nvPr/>
        </p:nvSpPr>
        <p:spPr>
          <a:xfrm>
            <a:off x="7662982" y="4059674"/>
            <a:ext cx="2949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Analytical Objectives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cdd1754675_0_6"/>
          <p:cNvSpPr/>
          <p:nvPr/>
        </p:nvSpPr>
        <p:spPr>
          <a:xfrm>
            <a:off x="7662982" y="4550093"/>
            <a:ext cx="59391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Examine historical participation trends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Identify structural outcome patterns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Develop predictive model for learner success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•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Translate results into strategic recommendations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g3cdd1754675_0_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268325" y="7730213"/>
            <a:ext cx="1268412" cy="2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fca2392e4_0_20"/>
          <p:cNvSpPr/>
          <p:nvPr/>
        </p:nvSpPr>
        <p:spPr>
          <a:xfrm>
            <a:off x="793790" y="1273359"/>
            <a:ext cx="8156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 &amp; Cleaning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cfca2392e4_0_20"/>
          <p:cNvSpPr/>
          <p:nvPr/>
        </p:nvSpPr>
        <p:spPr>
          <a:xfrm>
            <a:off x="793800" y="2264827"/>
            <a:ext cx="4196400" cy="4922100"/>
          </a:xfrm>
          <a:prstGeom prst="roundRect">
            <a:avLst>
              <a:gd fmla="val 2879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g3cfca2392e4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224" y="2322629"/>
            <a:ext cx="680442" cy="680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g3cfca2392e4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390" y="2532100"/>
            <a:ext cx="306109" cy="306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cfca2392e4_0_20"/>
          <p:cNvSpPr/>
          <p:nvPr/>
        </p:nvSpPr>
        <p:spPr>
          <a:xfrm>
            <a:off x="1028225" y="3140187"/>
            <a:ext cx="37275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 Process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cfca2392e4_0_20"/>
          <p:cNvSpPr/>
          <p:nvPr/>
        </p:nvSpPr>
        <p:spPr>
          <a:xfrm>
            <a:off x="972165" y="3691039"/>
            <a:ext cx="3837900" cy="3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Removed incomplete and ongoing application records to ensure reliable analysis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Standardized categorical values such as Status Description and Opportunity Category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Cleaned and filtered data to retain only relevant variables for analysis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170" name="Google Shape;170;g3cfca2392e4_0_20"/>
          <p:cNvSpPr/>
          <p:nvPr/>
        </p:nvSpPr>
        <p:spPr>
          <a:xfrm>
            <a:off x="5216950" y="2289999"/>
            <a:ext cx="4196400" cy="4922100"/>
          </a:xfrm>
          <a:prstGeom prst="roundRect">
            <a:avLst>
              <a:gd fmla="val 2879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g3cfca2392e4_0_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1396" y="2322629"/>
            <a:ext cx="680442" cy="680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g3cfca2392e4_0_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8562" y="2509676"/>
            <a:ext cx="306109" cy="30610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cfca2392e4_0_20"/>
          <p:cNvSpPr/>
          <p:nvPr/>
        </p:nvSpPr>
        <p:spPr>
          <a:xfrm>
            <a:off x="5451396" y="3611093"/>
            <a:ext cx="3727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Target Variable Creation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cfca2392e4_0_20"/>
          <p:cNvSpPr/>
          <p:nvPr/>
        </p:nvSpPr>
        <p:spPr>
          <a:xfrm>
            <a:off x="5451400" y="4455836"/>
            <a:ext cx="3727500" cy="24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Created a binary outcome variable for modeling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Success: Rewards Award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Non-Success: Rejected, Dropped Out, Withdrawn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175" name="Google Shape;175;g3cfca2392e4_0_20"/>
          <p:cNvSpPr/>
          <p:nvPr/>
        </p:nvSpPr>
        <p:spPr>
          <a:xfrm>
            <a:off x="9640125" y="2322627"/>
            <a:ext cx="4196400" cy="4864200"/>
          </a:xfrm>
          <a:prstGeom prst="roundRect">
            <a:avLst>
              <a:gd fmla="val 2879" name="adj"/>
            </a:avLst>
          </a:prstGeom>
          <a:solidFill>
            <a:srgbClr val="31136C"/>
          </a:solidFill>
          <a:ln cap="flat" cmpd="sng" w="952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g3cfca2392e4_0_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74568" y="2345053"/>
            <a:ext cx="680442" cy="680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g3cfca2392e4_0_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61734" y="2532100"/>
            <a:ext cx="306109" cy="30610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cfca2392e4_0_20"/>
          <p:cNvSpPr/>
          <p:nvPr/>
        </p:nvSpPr>
        <p:spPr>
          <a:xfrm>
            <a:off x="9698375" y="3297153"/>
            <a:ext cx="407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Purpose of Data Preparation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cfca2392e4_0_20"/>
          <p:cNvSpPr/>
          <p:nvPr/>
        </p:nvSpPr>
        <p:spPr>
          <a:xfrm>
            <a:off x="9874575" y="4137214"/>
            <a:ext cx="3727500" cy="27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Improve data quality and reduce noise in the dataset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Enable accurate m</a:t>
            </a: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odel training and prediction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Support clear and meaningful dashboard visualiza</a:t>
            </a: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tions</a:t>
            </a:r>
            <a:endParaRPr sz="175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pic>
        <p:nvPicPr>
          <p:cNvPr id="180" name="Google Shape;180;g3cfca2392e4_0_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211175" y="7930238"/>
            <a:ext cx="1268412" cy="2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/>
          <p:nvPr/>
        </p:nvSpPr>
        <p:spPr>
          <a:xfrm>
            <a:off x="793790" y="138755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Historical Application Analysis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93790" y="3258622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5850"/>
              <a:buFont typeface="Montserrat"/>
              <a:buNone/>
            </a:pPr>
            <a:r>
              <a:rPr lang="en-US" sz="58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20-25</a:t>
            </a:r>
            <a:endParaRPr sz="5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793790" y="4290417"/>
            <a:ext cx="232981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Primary Age Group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793790" y="5135166"/>
            <a:ext cx="23298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Accounted for highest application volume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407093" y="3258622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5850"/>
              <a:buFont typeface="Montserrat"/>
              <a:buNone/>
            </a:pPr>
            <a:r>
              <a:rPr lang="en-US" sz="58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5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3407093" y="4290417"/>
            <a:ext cx="232981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Dominant Categories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3407093" y="5135166"/>
            <a:ext cx="23298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Internship and Course programs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020395" y="3258622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5850"/>
              <a:buFont typeface="Montserrat"/>
              <a:buNone/>
            </a:pPr>
            <a:r>
              <a:rPr lang="en-US" sz="58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99.3%</a:t>
            </a:r>
            <a:endParaRPr sz="5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020395" y="4290417"/>
            <a:ext cx="23298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Drop-Off Rate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6020395" y="4780836"/>
            <a:ext cx="23298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Historical imbalance in outcomes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793790" y="6116122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Geographic distribution showed concentration in limited countries, suggesting uneven global engagement patterns.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20700" y="7854038"/>
            <a:ext cx="1268412" cy="2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/>
          <p:nvPr/>
        </p:nvSpPr>
        <p:spPr>
          <a:xfrm>
            <a:off x="793790" y="662092"/>
            <a:ext cx="10208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Model Development &amp; Performance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824499"/>
            <a:ext cx="43475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/>
          <p:nvPr/>
        </p:nvSpPr>
        <p:spPr>
          <a:xfrm>
            <a:off x="1020604" y="2958570"/>
            <a:ext cx="3155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Random Forest Model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1020604" y="3448988"/>
            <a:ext cx="3894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Classification algorithm trained on demographic and opportunity-related features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357" y="1824499"/>
            <a:ext cx="43475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/>
          <p:nvPr/>
        </p:nvSpPr>
        <p:spPr>
          <a:xfrm>
            <a:off x="5368171" y="295857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Binary Prediction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368171" y="3448988"/>
            <a:ext cx="3894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Success (Rewards Award) vs. Non-Success (Rejected, Dropped Out, Withdrawn)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8924" y="1824499"/>
            <a:ext cx="43475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"/>
          <p:cNvSpPr/>
          <p:nvPr/>
        </p:nvSpPr>
        <p:spPr>
          <a:xfrm>
            <a:off x="9715738" y="295857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9715738" y="3448988"/>
            <a:ext cx="3894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Confusion matrix analysis confirmed strong alignment with actual outcomes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214" y="7874513"/>
            <a:ext cx="1268412" cy="2355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/>
          <p:nvPr/>
        </p:nvSpPr>
        <p:spPr>
          <a:xfrm>
            <a:off x="497725" y="5254950"/>
            <a:ext cx="6319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30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 Comparison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5" title="Screenshot 2026-03-13 11550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5741" y="5982600"/>
            <a:ext cx="7011925" cy="13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/>
          <p:nvPr/>
        </p:nvSpPr>
        <p:spPr>
          <a:xfrm>
            <a:off x="7556349" y="4625975"/>
            <a:ext cx="6710100" cy="1638600"/>
          </a:xfrm>
          <a:prstGeom prst="roundRect">
            <a:avLst>
              <a:gd fmla="val 5504" name="adj"/>
            </a:avLst>
          </a:prstGeom>
          <a:solidFill>
            <a:srgbClr val="0D0A2C">
              <a:alpha val="94900"/>
            </a:srgbClr>
          </a:solidFill>
          <a:ln cap="flat" cmpd="sng" w="28850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7583416" y="4654835"/>
            <a:ext cx="805500" cy="1581000"/>
          </a:xfrm>
          <a:prstGeom prst="roundRect">
            <a:avLst>
              <a:gd fmla="val 6469" name="adj"/>
            </a:avLst>
          </a:prstGeom>
          <a:solidFill>
            <a:srgbClr val="31136C"/>
          </a:solidFill>
          <a:ln>
            <a:noFill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7831777" y="5243981"/>
            <a:ext cx="3021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509"/>
              <a:buFont typeface="Montserrat"/>
              <a:buNone/>
            </a:pPr>
            <a:r>
              <a:rPr lang="en-US" sz="250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5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8487475" y="4726961"/>
            <a:ext cx="5706900" cy="14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This table compares the performance of the models tested during the modeling phase.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657"/>
              <a:buFont typeface="Heebo Light"/>
              <a:buNone/>
            </a:pPr>
            <a:r>
              <a:rPr lang="en-US">
                <a:solidFill>
                  <a:schemeClr val="lt1"/>
                </a:solidFill>
              </a:rPr>
              <a:t>The Random Forest model achieved </a:t>
            </a:r>
            <a:r>
              <a:rPr b="1" lang="en-US">
                <a:solidFill>
                  <a:schemeClr val="lt1"/>
                </a:solidFill>
              </a:rPr>
              <a:t>higher accuracy, precision, recall, F1 score, and ROC AUC</a:t>
            </a:r>
            <a:r>
              <a:rPr lang="en-US">
                <a:solidFill>
                  <a:schemeClr val="lt1"/>
                </a:solidFill>
              </a:rPr>
              <a:t> compared to Logistic Regression.</a:t>
            </a:r>
            <a:endParaRPr>
              <a:solidFill>
                <a:schemeClr val="lt1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7556349" y="6479544"/>
            <a:ext cx="6710100" cy="1638600"/>
          </a:xfrm>
          <a:prstGeom prst="roundRect">
            <a:avLst>
              <a:gd fmla="val 5504" name="adj"/>
            </a:avLst>
          </a:prstGeom>
          <a:solidFill>
            <a:srgbClr val="0D0A2C">
              <a:alpha val="94900"/>
            </a:srgbClr>
          </a:solidFill>
          <a:ln cap="flat" cmpd="sng" w="28850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7583416" y="6508404"/>
            <a:ext cx="805500" cy="1581000"/>
          </a:xfrm>
          <a:prstGeom prst="roundRect">
            <a:avLst>
              <a:gd fmla="val 6469" name="adj"/>
            </a:avLst>
          </a:prstGeom>
          <a:solidFill>
            <a:srgbClr val="31136C"/>
          </a:solidFill>
          <a:ln>
            <a:noFill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7831777" y="7097551"/>
            <a:ext cx="3021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509"/>
              <a:buFont typeface="Montserrat"/>
              <a:buNone/>
            </a:pPr>
            <a:r>
              <a:rPr lang="en-US" sz="250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5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8590498" y="6644678"/>
            <a:ext cx="3534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083"/>
              <a:buFont typeface="Montserrat"/>
              <a:buNone/>
            </a:pPr>
            <a:r>
              <a:rPr lang="en-US" sz="208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Model Selection</a:t>
            </a:r>
            <a:endParaRPr sz="208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8590498" y="7187513"/>
            <a:ext cx="54480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657"/>
              <a:buFont typeface="Heebo Light"/>
              <a:buNone/>
            </a:pPr>
            <a:r>
              <a:rPr lang="en-US">
                <a:solidFill>
                  <a:schemeClr val="lt1"/>
                </a:solidFill>
              </a:rPr>
              <a:t>Random Forest was selected because it produced the </a:t>
            </a:r>
            <a:r>
              <a:rPr b="1" lang="en-US">
                <a:solidFill>
                  <a:schemeClr val="lt1"/>
                </a:solidFill>
              </a:rPr>
              <a:t>most stable and accurate predictions</a:t>
            </a:r>
            <a:r>
              <a:rPr lang="en-US">
                <a:solidFill>
                  <a:schemeClr val="lt1"/>
                </a:solidFill>
              </a:rPr>
              <a:t> compared to the other tested models.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0550" y="1276350"/>
            <a:ext cx="6031358" cy="624078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6"/>
          <p:cNvSpPr/>
          <p:nvPr/>
        </p:nvSpPr>
        <p:spPr>
          <a:xfrm>
            <a:off x="659963" y="980242"/>
            <a:ext cx="6745843" cy="589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700"/>
              <a:buFont typeface="Montserrat"/>
              <a:buNone/>
            </a:pPr>
            <a:r>
              <a:rPr lang="en-US" sz="37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Feature Importance Analysis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963" y="2102168"/>
            <a:ext cx="7824073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/>
          <p:nvPr/>
        </p:nvSpPr>
        <p:spPr>
          <a:xfrm>
            <a:off x="659963" y="2242066"/>
            <a:ext cx="2581751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Opportunity Category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59963" y="2630805"/>
            <a:ext cx="78240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 Light"/>
              <a:buNone/>
            </a:pPr>
            <a:r>
              <a:rPr lang="en-US" sz="14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Program type significantly influences outcome probability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59963" y="3205043"/>
            <a:ext cx="188476" cy="23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Montserrat Light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963" y="3483650"/>
            <a:ext cx="7824073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/>
          <p:nvPr/>
        </p:nvSpPr>
        <p:spPr>
          <a:xfrm>
            <a:off x="659963" y="3642360"/>
            <a:ext cx="2357318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Age Group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59963" y="4031099"/>
            <a:ext cx="78240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 Light"/>
              <a:buNone/>
            </a:pPr>
            <a:r>
              <a:rPr lang="en-US" sz="14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Demographic segment drives participation patterns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963" y="4865132"/>
            <a:ext cx="7824073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/>
          <p:nvPr/>
        </p:nvSpPr>
        <p:spPr>
          <a:xfrm>
            <a:off x="659963" y="5042654"/>
            <a:ext cx="2357318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Institution Name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659963" y="5431393"/>
            <a:ext cx="78240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 Light"/>
              <a:buNone/>
            </a:pPr>
            <a:r>
              <a:rPr lang="en-US" sz="14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Organizational context affects engagement levels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963" y="6246614"/>
            <a:ext cx="7824073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/>
          <p:cNvSpPr/>
          <p:nvPr/>
        </p:nvSpPr>
        <p:spPr>
          <a:xfrm>
            <a:off x="659963" y="6442948"/>
            <a:ext cx="2357318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Country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59963" y="6831687"/>
            <a:ext cx="78240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50"/>
              <a:buFont typeface="Heebo Light"/>
              <a:buNone/>
            </a:pPr>
            <a:r>
              <a:rPr lang="en-US" sz="14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Geographic region shapes application success rates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63550" y="7854038"/>
            <a:ext cx="1268412" cy="2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/>
          <p:nvPr/>
        </p:nvSpPr>
        <p:spPr>
          <a:xfrm>
            <a:off x="793790" y="745212"/>
            <a:ext cx="794623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Prediction Forecast Analysis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2588538" y="3381970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99.3%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2428" y="1964293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2565916" y="56501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Predicted Drop-Off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93790" y="6140529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Non-success outcomes dominate forecast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9251633" y="3381970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0.7%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5523" y="1964293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/>
          <p:nvPr/>
        </p:nvSpPr>
        <p:spPr>
          <a:xfrm>
            <a:off x="9229130" y="565011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Predicted Success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7456884" y="6140529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Rewards Award probability remains low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793790" y="675858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Probability distribution analysis indicates concentration of predictions within high-risk zones, suggesting systemic engagement challenges rather than isolated individual cases.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0225" y="7873088"/>
            <a:ext cx="1268412" cy="2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89" y="204979"/>
            <a:ext cx="6149075" cy="342215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"/>
          <p:cNvSpPr/>
          <p:nvPr/>
        </p:nvSpPr>
        <p:spPr>
          <a:xfrm>
            <a:off x="6280190" y="719733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Integrated Dashboard Overview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280190" y="2477453"/>
            <a:ext cx="7556421" cy="1730812"/>
          </a:xfrm>
          <a:prstGeom prst="roundRect">
            <a:avLst>
              <a:gd fmla="val 5504" name="adj"/>
            </a:avLst>
          </a:prstGeom>
          <a:solidFill>
            <a:srgbClr val="0D0A2C">
              <a:alpha val="94901"/>
            </a:srgbClr>
          </a:solidFill>
          <a:ln cap="flat" cmpd="sng" w="3047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310670" y="2507933"/>
            <a:ext cx="907256" cy="1669852"/>
          </a:xfrm>
          <a:prstGeom prst="roundRect">
            <a:avLst>
              <a:gd fmla="val 6469" name="adj"/>
            </a:avLst>
          </a:prstGeom>
          <a:solidFill>
            <a:srgbClr val="3113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6590348" y="313015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650"/>
              <a:buFont typeface="Montserrat"/>
              <a:buNone/>
            </a:pPr>
            <a:r>
              <a:rPr lang="en-US" sz="26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7444740" y="2734747"/>
            <a:ext cx="351948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Historical Learner Trends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444740" y="3225165"/>
            <a:ext cx="61345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Demographic filtering, program-level risk exploration, country-level segmentation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280190" y="4435078"/>
            <a:ext cx="7556421" cy="1730812"/>
          </a:xfrm>
          <a:prstGeom prst="roundRect">
            <a:avLst>
              <a:gd fmla="val 5504" name="adj"/>
            </a:avLst>
          </a:prstGeom>
          <a:solidFill>
            <a:srgbClr val="0D0A2C">
              <a:alpha val="94901"/>
            </a:srgbClr>
          </a:solidFill>
          <a:ln cap="flat" cmpd="sng" w="30475">
            <a:solidFill>
              <a:srgbClr val="4A2C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6310670" y="4465558"/>
            <a:ext cx="907256" cy="1669852"/>
          </a:xfrm>
          <a:prstGeom prst="roundRect">
            <a:avLst>
              <a:gd fmla="val 6469" name="adj"/>
            </a:avLst>
          </a:prstGeom>
          <a:solidFill>
            <a:srgbClr val="3113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6590348" y="508777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650"/>
              <a:buFont typeface="Montserrat"/>
              <a:buNone/>
            </a:pPr>
            <a:r>
              <a:rPr lang="en-US" sz="26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444740" y="4692372"/>
            <a:ext cx="398002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Predictive Analytics Insights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444740" y="5182791"/>
            <a:ext cx="61345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Confidence-based analysis, probability score visualization, actual vs. predicted comparison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280190" y="6421041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None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The dashboard transforms static analysis into an interactive planning tool, enabling stakeholders to visualize both historical insights and future forecasts.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9" y="3710250"/>
            <a:ext cx="6167988" cy="342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01650" y="7882613"/>
            <a:ext cx="1268412" cy="23554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8"/>
          <p:cNvSpPr txBox="1"/>
          <p:nvPr/>
        </p:nvSpPr>
        <p:spPr>
          <a:xfrm>
            <a:off x="0" y="7286850"/>
            <a:ext cx="575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Dashboard Link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https://drive.google.com/file/d/1j92bjEFUlUTer9y6KHJBsYJPNgel_5x_/view?usp=sharing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fca2392e4_1_3"/>
          <p:cNvSpPr/>
          <p:nvPr/>
        </p:nvSpPr>
        <p:spPr>
          <a:xfrm>
            <a:off x="793800" y="796300"/>
            <a:ext cx="8714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lang="en-US" sz="44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Strategic Recommendations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t/>
            </a:r>
            <a:endParaRPr sz="445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90" name="Google Shape;290;g3cfca2392e4_1_3"/>
          <p:cNvSpPr/>
          <p:nvPr/>
        </p:nvSpPr>
        <p:spPr>
          <a:xfrm>
            <a:off x="793790" y="1958697"/>
            <a:ext cx="226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01</a:t>
            </a:r>
            <a:endParaRPr b="0" i="0" sz="1750" u="none" cap="none" strike="noStrike">
              <a:solidFill>
                <a:schemeClr val="lt1"/>
              </a:solidFill>
            </a:endParaRPr>
          </a:p>
        </p:txBody>
      </p:sp>
      <p:sp>
        <p:nvSpPr>
          <p:cNvPr id="291" name="Google Shape;291;g3cfca2392e4_1_3"/>
          <p:cNvSpPr/>
          <p:nvPr/>
        </p:nvSpPr>
        <p:spPr>
          <a:xfrm>
            <a:off x="793790" y="2313742"/>
            <a:ext cx="4196400" cy="3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g3cfca2392e4_1_3"/>
          <p:cNvSpPr/>
          <p:nvPr/>
        </p:nvSpPr>
        <p:spPr>
          <a:xfrm>
            <a:off x="793800" y="2488050"/>
            <a:ext cx="3836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Early Risk Identification Framework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t/>
            </a:r>
            <a:endParaRPr sz="22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93" name="Google Shape;293;g3cfca2392e4_1_3"/>
          <p:cNvSpPr/>
          <p:nvPr/>
        </p:nvSpPr>
        <p:spPr>
          <a:xfrm>
            <a:off x="793800" y="3370879"/>
            <a:ext cx="41964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 prediction probabilities to flag high-risk learners and implement early mentorship interventions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g3cfca2392e4_1_3"/>
          <p:cNvSpPr/>
          <p:nvPr/>
        </p:nvSpPr>
        <p:spPr>
          <a:xfrm>
            <a:off x="5216940" y="1958700"/>
            <a:ext cx="422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lang="en-US" sz="1750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0</a:t>
            </a:r>
            <a:r>
              <a:rPr b="0" i="0" lang="en-US" sz="175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2</a:t>
            </a:r>
            <a:endParaRPr b="0" i="0" sz="1750" u="none" cap="none" strike="noStrike">
              <a:solidFill>
                <a:schemeClr val="lt1"/>
              </a:solidFill>
            </a:endParaRPr>
          </a:p>
        </p:txBody>
      </p:sp>
      <p:sp>
        <p:nvSpPr>
          <p:cNvPr id="295" name="Google Shape;295;g3cfca2392e4_1_3"/>
          <p:cNvSpPr/>
          <p:nvPr/>
        </p:nvSpPr>
        <p:spPr>
          <a:xfrm>
            <a:off x="5216962" y="2313742"/>
            <a:ext cx="4196400" cy="3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6" name="Google Shape;296;g3cfca2392e4_1_3"/>
          <p:cNvSpPr/>
          <p:nvPr/>
        </p:nvSpPr>
        <p:spPr>
          <a:xfrm>
            <a:off x="5216950" y="2488050"/>
            <a:ext cx="3719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Program-Level Structural Review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t/>
            </a:r>
            <a:endParaRPr sz="22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97" name="Google Shape;297;g3cfca2392e4_1_3"/>
          <p:cNvSpPr/>
          <p:nvPr/>
        </p:nvSpPr>
        <p:spPr>
          <a:xfrm>
            <a:off x="5216950" y="3382101"/>
            <a:ext cx="41964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Analyze high-risk opportunity categories and redesign onboarding and support mechanisms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g3cfca2392e4_1_3"/>
          <p:cNvSpPr/>
          <p:nvPr/>
        </p:nvSpPr>
        <p:spPr>
          <a:xfrm>
            <a:off x="9640119" y="1958700"/>
            <a:ext cx="422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03</a:t>
            </a:r>
            <a:endParaRPr b="0" i="0" sz="1750" u="none" cap="none" strike="noStrike">
              <a:solidFill>
                <a:schemeClr val="lt1"/>
              </a:solidFill>
            </a:endParaRPr>
          </a:p>
        </p:txBody>
      </p:sp>
      <p:sp>
        <p:nvSpPr>
          <p:cNvPr id="299" name="Google Shape;299;g3cfca2392e4_1_3"/>
          <p:cNvSpPr/>
          <p:nvPr/>
        </p:nvSpPr>
        <p:spPr>
          <a:xfrm>
            <a:off x="9640133" y="2313742"/>
            <a:ext cx="4196400" cy="3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0" name="Google Shape;300;g3cfca2392e4_1_3"/>
          <p:cNvSpPr/>
          <p:nvPr/>
        </p:nvSpPr>
        <p:spPr>
          <a:xfrm>
            <a:off x="9640125" y="2488051"/>
            <a:ext cx="28353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2200"/>
              <a:buFont typeface="Montserrat"/>
              <a:buNone/>
            </a:pPr>
            <a:r>
              <a:rPr lang="en-US" sz="22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Application Pipeline Optimization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t/>
            </a:r>
            <a:endParaRPr sz="22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01" name="Google Shape;301;g3cfca2392e4_1_3"/>
          <p:cNvSpPr/>
          <p:nvPr/>
        </p:nvSpPr>
        <p:spPr>
          <a:xfrm>
            <a:off x="9640125" y="3382101"/>
            <a:ext cx="4196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 Light"/>
              <a:buChar char="●"/>
            </a:pPr>
            <a:r>
              <a:rPr lang="en-US" sz="1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Strengthen screening processes and introduce preparatory workshops for high-risk segments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g3cfca2392e4_1_3"/>
          <p:cNvSpPr/>
          <p:nvPr/>
        </p:nvSpPr>
        <p:spPr>
          <a:xfrm>
            <a:off x="793816" y="4998059"/>
            <a:ext cx="585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04</a:t>
            </a:r>
            <a:endParaRPr b="0" i="0" sz="1750" u="none" cap="none" strike="noStrike">
              <a:solidFill>
                <a:schemeClr val="lt1"/>
              </a:solidFill>
            </a:endParaRPr>
          </a:p>
        </p:txBody>
      </p:sp>
      <p:sp>
        <p:nvSpPr>
          <p:cNvPr id="303" name="Google Shape;303;g3cfca2392e4_1_3"/>
          <p:cNvSpPr/>
          <p:nvPr/>
        </p:nvSpPr>
        <p:spPr>
          <a:xfrm>
            <a:off x="793803" y="5353108"/>
            <a:ext cx="5428800" cy="3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4" name="Google Shape;304;g3cfca2392e4_1_3"/>
          <p:cNvSpPr/>
          <p:nvPr/>
        </p:nvSpPr>
        <p:spPr>
          <a:xfrm>
            <a:off x="793800" y="5527407"/>
            <a:ext cx="4845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Geographic Engagement Expansion</a:t>
            </a:r>
            <a:endParaRPr b="0" i="0" sz="2200" u="none" cap="none" strike="noStrike">
              <a:solidFill>
                <a:schemeClr val="lt1"/>
              </a:solidFill>
            </a:endParaRPr>
          </a:p>
        </p:txBody>
      </p:sp>
      <p:sp>
        <p:nvSpPr>
          <p:cNvPr id="305" name="Google Shape;305;g3cfca2392e4_1_3"/>
          <p:cNvSpPr/>
          <p:nvPr/>
        </p:nvSpPr>
        <p:spPr>
          <a:xfrm>
            <a:off x="793800" y="6043107"/>
            <a:ext cx="45654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Increase outreach efforts in underrepresented countries to improve global participation balance.</a:t>
            </a:r>
            <a:endParaRPr b="0" i="0" sz="1750" u="none" cap="none" strike="noStrike">
              <a:solidFill>
                <a:schemeClr val="lt1"/>
              </a:solidFill>
            </a:endParaRPr>
          </a:p>
        </p:txBody>
      </p:sp>
      <p:sp>
        <p:nvSpPr>
          <p:cNvPr id="306" name="Google Shape;306;g3cfca2392e4_1_3"/>
          <p:cNvSpPr/>
          <p:nvPr/>
        </p:nvSpPr>
        <p:spPr>
          <a:xfrm>
            <a:off x="8322657" y="4998059"/>
            <a:ext cx="489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05</a:t>
            </a:r>
            <a:endParaRPr b="0" i="0" sz="1750" u="none" cap="none" strike="noStrike">
              <a:solidFill>
                <a:schemeClr val="lt1"/>
              </a:solidFill>
            </a:endParaRPr>
          </a:p>
        </p:txBody>
      </p:sp>
      <p:sp>
        <p:nvSpPr>
          <p:cNvPr id="307" name="Google Shape;307;g3cfca2392e4_1_3"/>
          <p:cNvSpPr/>
          <p:nvPr/>
        </p:nvSpPr>
        <p:spPr>
          <a:xfrm flipH="1" rot="10800000">
            <a:off x="8322674" y="5319669"/>
            <a:ext cx="4896300" cy="3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8" name="Google Shape;308;g3cfca2392e4_1_3"/>
          <p:cNvSpPr/>
          <p:nvPr/>
        </p:nvSpPr>
        <p:spPr>
          <a:xfrm>
            <a:off x="8289039" y="5504983"/>
            <a:ext cx="50196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Continuous Data Monitoring and Model Improvement</a:t>
            </a:r>
            <a:endParaRPr b="0" i="0" sz="2200" u="none" cap="none" strike="noStrike">
              <a:solidFill>
                <a:schemeClr val="lt1"/>
              </a:solidFill>
            </a:endParaRPr>
          </a:p>
        </p:txBody>
      </p:sp>
      <p:sp>
        <p:nvSpPr>
          <p:cNvPr id="309" name="Google Shape;309;g3cfca2392e4_1_3"/>
          <p:cNvSpPr/>
          <p:nvPr/>
        </p:nvSpPr>
        <p:spPr>
          <a:xfrm>
            <a:off x="8322675" y="6365394"/>
            <a:ext cx="47616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Inter"/>
              <a:buChar char="●"/>
            </a:pPr>
            <a:r>
              <a:rPr lang="en-US" sz="17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Regularly monitor application outcomes and retrain predictive models to improve forecasting accuracy.</a:t>
            </a:r>
            <a:endParaRPr b="0" i="0" sz="175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5" name="Google Shape;3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"/>
          <p:cNvSpPr/>
          <p:nvPr/>
        </p:nvSpPr>
        <p:spPr>
          <a:xfrm>
            <a:off x="6176724" y="1513284"/>
            <a:ext cx="7626429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850"/>
              <a:buFont typeface="Montserrat"/>
              <a:buNone/>
            </a:pPr>
            <a:r>
              <a:rPr lang="en-US" sz="385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Learning Journey</a:t>
            </a:r>
            <a:endParaRPr sz="3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176724" y="2558296"/>
            <a:ext cx="2465427" cy="308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Key Achievements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176724" y="3037880"/>
            <a:ext cx="3641050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Char char="•"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Integrated exploratory data analysis with predictive modeling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Char char="•"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Developed Random Forest classifier with strong performance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Char char="•"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Built interactive dashboard for strategic planning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Char char="•"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Translated predictions into actionable recommendations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10306645" y="2558296"/>
            <a:ext cx="2465427" cy="308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Skills Developed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0306645" y="3037880"/>
            <a:ext cx="3641050" cy="1360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Char char="•"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 cleaning and transformation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Char char="•"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Feature engineering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Char char="•"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Model evaluation and interpretation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Char char="•"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Power BI dashboard design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176724" y="5831086"/>
            <a:ext cx="7763351" cy="885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550"/>
              <a:buFont typeface="Heebo Light"/>
              <a:buNone/>
            </a:pPr>
            <a:r>
              <a:rPr lang="en-US" sz="15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This analysis demonstrates how data-driven approaches uncover meaningful patterns in learner engagement. By integrating machine learning insights into an interactive dashboard, raw data transforms into strategic intelligence for proactive decision-making.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73075" y="7854038"/>
            <a:ext cx="1268412" cy="2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2026-03-06T23:02:24Z</dcterms:created>
  <dc:creator>Ovie Oshorakpor</dc:creator>
</cp:coreProperties>
</file>